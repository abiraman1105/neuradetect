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9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985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0">
            <a:extLst>
              <a:ext uri="{FF2B5EF4-FFF2-40B4-BE49-F238E27FC236}">
                <a16:creationId xmlns:a16="http://schemas.microsoft.com/office/drawing/2014/main" id="{165CAC29-C47F-666E-0F39-96BCE91B336A}"/>
              </a:ext>
            </a:extLst>
          </p:cNvPr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018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712EE180-0B72-3849-0DF6-0B1AD855BBB2}"/>
              </a:ext>
            </a:extLst>
          </p:cNvPr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002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716561CB-191B-2FBD-34BA-D5E82563E7E4}"/>
              </a:ext>
            </a:extLst>
          </p:cNvPr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001F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46ADC86B-BB60-F32A-8C8B-D11AFE67E21D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EC11A088-7105-FCDD-42E5-E8EFC992B5AA}"/>
              </a:ext>
            </a:extLst>
          </p:cNvPr>
          <p:cNvSpPr/>
          <p:nvPr/>
        </p:nvSpPr>
        <p:spPr>
          <a:xfrm>
            <a:off x="457200" y="3310128"/>
            <a:ext cx="82296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ABD7D472-FA38-1B2E-41BC-E859B524FDFC}"/>
              </a:ext>
            </a:extLst>
          </p:cNvPr>
          <p:cNvSpPr/>
          <p:nvPr/>
        </p:nvSpPr>
        <p:spPr>
          <a:xfrm>
            <a:off x="502920" y="384048"/>
            <a:ext cx="1005840" cy="1005840"/>
          </a:xfrm>
          <a:prstGeom prst="ellipse">
            <a:avLst/>
          </a:prstGeom>
          <a:solidFill>
            <a:srgbClr val="00D4FF">
              <a:alpha val="22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4EAA99E1-654A-B2CE-B796-9BC243EDC4EC}"/>
              </a:ext>
            </a:extLst>
          </p:cNvPr>
          <p:cNvSpPr/>
          <p:nvPr/>
        </p:nvSpPr>
        <p:spPr>
          <a:xfrm>
            <a:off x="502920" y="347472"/>
            <a:ext cx="1005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ED2C2BD7-BB35-05A0-0957-8DA020B03DA6}"/>
              </a:ext>
            </a:extLst>
          </p:cNvPr>
          <p:cNvSpPr/>
          <p:nvPr/>
        </p:nvSpPr>
        <p:spPr>
          <a:xfrm>
            <a:off x="457200" y="1563624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NeuroScan AI</a:t>
            </a:r>
            <a:endParaRPr lang="en-US" sz="460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B0E1A7DE-8B33-326D-D034-3EC78B6A4CB1}"/>
              </a:ext>
            </a:extLst>
          </p:cNvPr>
          <p:cNvSpPr/>
          <p:nvPr/>
        </p:nvSpPr>
        <p:spPr>
          <a:xfrm>
            <a:off x="457200" y="2482596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LEARNING BASED BRAIN MRI CLASSIFICATION AND DETECTION SYSTEM</a:t>
            </a:r>
            <a:endParaRPr lang="en-US" sz="150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FCCD7A24-790D-8123-6020-0F09BDA54005}"/>
              </a:ext>
            </a:extLst>
          </p:cNvPr>
          <p:cNvSpPr/>
          <p:nvPr/>
        </p:nvSpPr>
        <p:spPr>
          <a:xfrm>
            <a:off x="457200" y="31272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 ·  Google Colab  ·  Flask  ·  MySQL</a:t>
            </a:r>
            <a:endParaRPr lang="en-US" sz="1000" dirty="0"/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BE6030C3-DE77-E862-6E39-089181C310A9}"/>
              </a:ext>
            </a:extLst>
          </p:cNvPr>
          <p:cNvSpPr/>
          <p:nvPr/>
        </p:nvSpPr>
        <p:spPr>
          <a:xfrm>
            <a:off x="457200" y="3520440"/>
            <a:ext cx="5120640" cy="137160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13">
            <a:extLst>
              <a:ext uri="{FF2B5EF4-FFF2-40B4-BE49-F238E27FC236}">
                <a16:creationId xmlns:a16="http://schemas.microsoft.com/office/drawing/2014/main" id="{DFF70E66-3FB0-8C7F-F691-C24C25762D04}"/>
              </a:ext>
            </a:extLst>
          </p:cNvPr>
          <p:cNvSpPr/>
          <p:nvPr/>
        </p:nvSpPr>
        <p:spPr>
          <a:xfrm>
            <a:off x="457200" y="3520440"/>
            <a:ext cx="45720" cy="137160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BEC247FE-F285-D451-033A-DA09A7E752A9}"/>
              </a:ext>
            </a:extLst>
          </p:cNvPr>
          <p:cNvSpPr/>
          <p:nvPr/>
        </p:nvSpPr>
        <p:spPr>
          <a:xfrm>
            <a:off x="621792" y="36118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of Computer Science &amp; Engineering</a:t>
            </a:r>
            <a:endParaRPr lang="en-US" sz="1150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F3C8C23D-E7B3-283E-686C-1819C42290D4}"/>
              </a:ext>
            </a:extLst>
          </p:cNvPr>
          <p:cNvSpPr/>
          <p:nvPr/>
        </p:nvSpPr>
        <p:spPr>
          <a:xfrm>
            <a:off x="621792" y="39319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Mailam</a:t>
            </a:r>
            <a:r>
              <a:rPr lang="en-US" sz="10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Engineering College, </a:t>
            </a:r>
            <a:r>
              <a:rPr lang="en-US" sz="1000" dirty="0" err="1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Mailam</a:t>
            </a:r>
            <a:endParaRPr lang="en-US" sz="1000" dirty="0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358E7CE5-5084-9B08-725A-BFF0E1651FF4}"/>
              </a:ext>
            </a:extLst>
          </p:cNvPr>
          <p:cNvSpPr/>
          <p:nvPr/>
        </p:nvSpPr>
        <p:spPr>
          <a:xfrm>
            <a:off x="621792" y="4187952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2022 – 2026  ·  B.E. Final Year</a:t>
            </a:r>
            <a:endParaRPr lang="en-US" sz="900" dirty="0"/>
          </a:p>
        </p:txBody>
      </p:sp>
      <p:sp>
        <p:nvSpPr>
          <p:cNvPr id="46" name="Shape 17">
            <a:extLst>
              <a:ext uri="{FF2B5EF4-FFF2-40B4-BE49-F238E27FC236}">
                <a16:creationId xmlns:a16="http://schemas.microsoft.com/office/drawing/2014/main" id="{248B562D-E5B5-68EE-4EB5-32CBB341175F}"/>
              </a:ext>
            </a:extLst>
          </p:cNvPr>
          <p:cNvSpPr/>
          <p:nvPr/>
        </p:nvSpPr>
        <p:spPr>
          <a:xfrm>
            <a:off x="621792" y="4462272"/>
            <a:ext cx="466344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5EAA76DA-4570-7791-C455-B34B25573AD7}"/>
              </a:ext>
            </a:extLst>
          </p:cNvPr>
          <p:cNvSpPr/>
          <p:nvPr/>
        </p:nvSpPr>
        <p:spPr>
          <a:xfrm>
            <a:off x="621792" y="449884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in partial fulfilment of B.E. (CSE)</a:t>
            </a:r>
            <a:endParaRPr lang="en-US" sz="850" dirty="0"/>
          </a:p>
        </p:txBody>
      </p:sp>
      <p:sp>
        <p:nvSpPr>
          <p:cNvPr id="48" name="Shape 19">
            <a:extLst>
              <a:ext uri="{FF2B5EF4-FFF2-40B4-BE49-F238E27FC236}">
                <a16:creationId xmlns:a16="http://schemas.microsoft.com/office/drawing/2014/main" id="{DD55C69D-F901-E5B0-D41C-BD8C3B7821A5}"/>
              </a:ext>
            </a:extLst>
          </p:cNvPr>
          <p:cNvSpPr/>
          <p:nvPr/>
        </p:nvSpPr>
        <p:spPr>
          <a:xfrm>
            <a:off x="6035040" y="256032"/>
            <a:ext cx="2834640" cy="310896"/>
          </a:xfrm>
          <a:prstGeom prst="rect">
            <a:avLst/>
          </a:prstGeom>
          <a:solidFill>
            <a:srgbClr val="00D4FF">
              <a:alpha val="18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E6FDB468-0198-F923-0A0C-3A01E087168D}"/>
              </a:ext>
            </a:extLst>
          </p:cNvPr>
          <p:cNvSpPr/>
          <p:nvPr/>
        </p:nvSpPr>
        <p:spPr>
          <a:xfrm>
            <a:off x="6035040" y="2560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00D4FF"/>
                </a:solidFill>
              </a:rPr>
              <a:t>PRESENTED BY</a:t>
            </a:r>
            <a:endParaRPr lang="en-US" sz="750" dirty="0"/>
          </a:p>
        </p:txBody>
      </p:sp>
      <p:sp>
        <p:nvSpPr>
          <p:cNvPr id="50" name="Shape 21">
            <a:extLst>
              <a:ext uri="{FF2B5EF4-FFF2-40B4-BE49-F238E27FC236}">
                <a16:creationId xmlns:a16="http://schemas.microsoft.com/office/drawing/2014/main" id="{3FD6C00C-F3C0-8DB4-7099-2F6465F3FD29}"/>
              </a:ext>
            </a:extLst>
          </p:cNvPr>
          <p:cNvSpPr/>
          <p:nvPr/>
        </p:nvSpPr>
        <p:spPr>
          <a:xfrm>
            <a:off x="6035040" y="640080"/>
            <a:ext cx="2834640" cy="2450592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1" name="Shape 22">
            <a:extLst>
              <a:ext uri="{FF2B5EF4-FFF2-40B4-BE49-F238E27FC236}">
                <a16:creationId xmlns:a16="http://schemas.microsoft.com/office/drawing/2014/main" id="{C91BED59-F803-7117-1E56-BB7335FB87E9}"/>
              </a:ext>
            </a:extLst>
          </p:cNvPr>
          <p:cNvSpPr/>
          <p:nvPr/>
        </p:nvSpPr>
        <p:spPr>
          <a:xfrm>
            <a:off x="6163056" y="804672"/>
            <a:ext cx="384048" cy="384048"/>
          </a:xfrm>
          <a:prstGeom prst="ellipse">
            <a:avLst/>
          </a:prstGeom>
          <a:solidFill>
            <a:srgbClr val="00D4FF">
              <a:alpha val="40000"/>
            </a:srgbClr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90B556D7-938E-EE9E-80CD-1DBD41356CD8}"/>
              </a:ext>
            </a:extLst>
          </p:cNvPr>
          <p:cNvSpPr/>
          <p:nvPr/>
        </p:nvSpPr>
        <p:spPr>
          <a:xfrm>
            <a:off x="6163056" y="804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Georgia" pitchFamily="34" charset="0"/>
              </a:rPr>
              <a:t>M</a:t>
            </a:r>
            <a:endParaRPr lang="en-US" sz="1200" dirty="0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D61C43CB-F456-F28A-2928-5627363C3BA7}"/>
              </a:ext>
            </a:extLst>
          </p:cNvPr>
          <p:cNvSpPr/>
          <p:nvPr/>
        </p:nvSpPr>
        <p:spPr>
          <a:xfrm>
            <a:off x="6629400" y="804672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ABIRAMAN M</a:t>
            </a:r>
            <a:endParaRPr lang="en-US" sz="1000" dirty="0"/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AB4140CD-5D52-AF00-29B0-A8242DA1950F}"/>
              </a:ext>
            </a:extLst>
          </p:cNvPr>
          <p:cNvSpPr/>
          <p:nvPr/>
        </p:nvSpPr>
        <p:spPr>
          <a:xfrm>
            <a:off x="6629400" y="1024128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421622104001</a:t>
            </a:r>
            <a:endParaRPr lang="en-US" sz="850" dirty="0"/>
          </a:p>
        </p:txBody>
      </p:sp>
      <p:sp>
        <p:nvSpPr>
          <p:cNvPr id="55" name="Shape 26">
            <a:extLst>
              <a:ext uri="{FF2B5EF4-FFF2-40B4-BE49-F238E27FC236}">
                <a16:creationId xmlns:a16="http://schemas.microsoft.com/office/drawing/2014/main" id="{DF30B1E1-92A8-C99C-8788-84C36D36F0F4}"/>
              </a:ext>
            </a:extLst>
          </p:cNvPr>
          <p:cNvSpPr/>
          <p:nvPr/>
        </p:nvSpPr>
        <p:spPr>
          <a:xfrm>
            <a:off x="6163056" y="1298448"/>
            <a:ext cx="260604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</p:sp>
      <p:sp>
        <p:nvSpPr>
          <p:cNvPr id="56" name="Shape 27">
            <a:extLst>
              <a:ext uri="{FF2B5EF4-FFF2-40B4-BE49-F238E27FC236}">
                <a16:creationId xmlns:a16="http://schemas.microsoft.com/office/drawing/2014/main" id="{23B1B9C8-D898-BB31-746B-29E151A7AA01}"/>
              </a:ext>
            </a:extLst>
          </p:cNvPr>
          <p:cNvSpPr/>
          <p:nvPr/>
        </p:nvSpPr>
        <p:spPr>
          <a:xfrm>
            <a:off x="6163056" y="1389888"/>
            <a:ext cx="384048" cy="384048"/>
          </a:xfrm>
          <a:prstGeom prst="ellipse">
            <a:avLst/>
          </a:prstGeom>
          <a:solidFill>
            <a:srgbClr val="14B8A6">
              <a:alpha val="40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647CF4A1-E25E-1CD3-D099-E91BAF5E921C}"/>
              </a:ext>
            </a:extLst>
          </p:cNvPr>
          <p:cNvSpPr/>
          <p:nvPr/>
        </p:nvSpPr>
        <p:spPr>
          <a:xfrm>
            <a:off x="6163056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Georgia" pitchFamily="34" charset="0"/>
              </a:rPr>
              <a:t>S</a:t>
            </a:r>
            <a:endParaRPr lang="en-US" sz="1200" dirty="0"/>
          </a:p>
        </p:txBody>
      </p:sp>
      <p:sp>
        <p:nvSpPr>
          <p:cNvPr id="58" name="Text 29">
            <a:extLst>
              <a:ext uri="{FF2B5EF4-FFF2-40B4-BE49-F238E27FC236}">
                <a16:creationId xmlns:a16="http://schemas.microsoft.com/office/drawing/2014/main" id="{DD07391E-C582-539D-956D-98A4A0B11726}"/>
              </a:ext>
            </a:extLst>
          </p:cNvPr>
          <p:cNvSpPr/>
          <p:nvPr/>
        </p:nvSpPr>
        <p:spPr>
          <a:xfrm>
            <a:off x="6629400" y="1389888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ANBARASAN S</a:t>
            </a:r>
            <a:endParaRPr lang="en-US" sz="1000" dirty="0"/>
          </a:p>
        </p:txBody>
      </p:sp>
      <p:sp>
        <p:nvSpPr>
          <p:cNvPr id="59" name="Text 30">
            <a:extLst>
              <a:ext uri="{FF2B5EF4-FFF2-40B4-BE49-F238E27FC236}">
                <a16:creationId xmlns:a16="http://schemas.microsoft.com/office/drawing/2014/main" id="{56AAC48C-CD98-3A13-CDC9-E04DD88427B3}"/>
              </a:ext>
            </a:extLst>
          </p:cNvPr>
          <p:cNvSpPr/>
          <p:nvPr/>
        </p:nvSpPr>
        <p:spPr>
          <a:xfrm>
            <a:off x="6629400" y="1609344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421622104005</a:t>
            </a:r>
            <a:endParaRPr lang="en-US" sz="850" dirty="0"/>
          </a:p>
        </p:txBody>
      </p:sp>
      <p:sp>
        <p:nvSpPr>
          <p:cNvPr id="60" name="Shape 31">
            <a:extLst>
              <a:ext uri="{FF2B5EF4-FFF2-40B4-BE49-F238E27FC236}">
                <a16:creationId xmlns:a16="http://schemas.microsoft.com/office/drawing/2014/main" id="{AD0E8194-BF6E-EA36-944A-119E420AF235}"/>
              </a:ext>
            </a:extLst>
          </p:cNvPr>
          <p:cNvSpPr/>
          <p:nvPr/>
        </p:nvSpPr>
        <p:spPr>
          <a:xfrm>
            <a:off x="6163056" y="1883664"/>
            <a:ext cx="260604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</p:sp>
      <p:sp>
        <p:nvSpPr>
          <p:cNvPr id="61" name="Shape 32">
            <a:extLst>
              <a:ext uri="{FF2B5EF4-FFF2-40B4-BE49-F238E27FC236}">
                <a16:creationId xmlns:a16="http://schemas.microsoft.com/office/drawing/2014/main" id="{DD5FDDBB-10BF-4ED0-59E2-9F759A72C017}"/>
              </a:ext>
            </a:extLst>
          </p:cNvPr>
          <p:cNvSpPr/>
          <p:nvPr/>
        </p:nvSpPr>
        <p:spPr>
          <a:xfrm>
            <a:off x="6163056" y="1975104"/>
            <a:ext cx="384048" cy="384048"/>
          </a:xfrm>
          <a:prstGeom prst="ellipse">
            <a:avLst/>
          </a:prstGeom>
          <a:solidFill>
            <a:srgbClr val="3B82F6">
              <a:alpha val="40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62" name="Text 33">
            <a:extLst>
              <a:ext uri="{FF2B5EF4-FFF2-40B4-BE49-F238E27FC236}">
                <a16:creationId xmlns:a16="http://schemas.microsoft.com/office/drawing/2014/main" id="{5FADBC49-2703-CF9E-5A63-5CF3AB55D134}"/>
              </a:ext>
            </a:extLst>
          </p:cNvPr>
          <p:cNvSpPr/>
          <p:nvPr/>
        </p:nvSpPr>
        <p:spPr>
          <a:xfrm>
            <a:off x="6163056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Georgia" pitchFamily="34" charset="0"/>
              </a:rPr>
              <a:t>M</a:t>
            </a:r>
            <a:endParaRPr lang="en-US" sz="1200" dirty="0"/>
          </a:p>
        </p:txBody>
      </p:sp>
      <p:sp>
        <p:nvSpPr>
          <p:cNvPr id="63" name="Text 34">
            <a:extLst>
              <a:ext uri="{FF2B5EF4-FFF2-40B4-BE49-F238E27FC236}">
                <a16:creationId xmlns:a16="http://schemas.microsoft.com/office/drawing/2014/main" id="{39E91127-D8E2-165B-2D36-67330C44BF61}"/>
              </a:ext>
            </a:extLst>
          </p:cNvPr>
          <p:cNvSpPr/>
          <p:nvPr/>
        </p:nvSpPr>
        <p:spPr>
          <a:xfrm>
            <a:off x="6629400" y="1975104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M</a:t>
            </a:r>
            <a:endParaRPr lang="en-US" sz="1000" dirty="0"/>
          </a:p>
        </p:txBody>
      </p:sp>
      <p:sp>
        <p:nvSpPr>
          <p:cNvPr id="64" name="Text 35">
            <a:extLst>
              <a:ext uri="{FF2B5EF4-FFF2-40B4-BE49-F238E27FC236}">
                <a16:creationId xmlns:a16="http://schemas.microsoft.com/office/drawing/2014/main" id="{F413FD08-8B9A-8E6E-0A36-687D5EB6224D}"/>
              </a:ext>
            </a:extLst>
          </p:cNvPr>
          <p:cNvSpPr/>
          <p:nvPr/>
        </p:nvSpPr>
        <p:spPr>
          <a:xfrm>
            <a:off x="6629400" y="219456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421622104012</a:t>
            </a:r>
            <a:endParaRPr lang="en-US" sz="850" dirty="0"/>
          </a:p>
        </p:txBody>
      </p:sp>
      <p:sp>
        <p:nvSpPr>
          <p:cNvPr id="65" name="Shape 36">
            <a:extLst>
              <a:ext uri="{FF2B5EF4-FFF2-40B4-BE49-F238E27FC236}">
                <a16:creationId xmlns:a16="http://schemas.microsoft.com/office/drawing/2014/main" id="{19D2E4F5-C6AC-A7AF-1C34-AF8CE5658B4D}"/>
              </a:ext>
            </a:extLst>
          </p:cNvPr>
          <p:cNvSpPr/>
          <p:nvPr/>
        </p:nvSpPr>
        <p:spPr>
          <a:xfrm>
            <a:off x="6163056" y="2468880"/>
            <a:ext cx="260604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</p:sp>
      <p:sp>
        <p:nvSpPr>
          <p:cNvPr id="66" name="Shape 37">
            <a:extLst>
              <a:ext uri="{FF2B5EF4-FFF2-40B4-BE49-F238E27FC236}">
                <a16:creationId xmlns:a16="http://schemas.microsoft.com/office/drawing/2014/main" id="{A267AAF7-08D7-3CD4-A953-8AD5DD1CF962}"/>
              </a:ext>
            </a:extLst>
          </p:cNvPr>
          <p:cNvSpPr/>
          <p:nvPr/>
        </p:nvSpPr>
        <p:spPr>
          <a:xfrm>
            <a:off x="6163056" y="2560320"/>
            <a:ext cx="384048" cy="384048"/>
          </a:xfrm>
          <a:prstGeom prst="ellipse">
            <a:avLst/>
          </a:prstGeom>
          <a:solidFill>
            <a:srgbClr val="F59E0B">
              <a:alpha val="40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7" name="Text 38">
            <a:extLst>
              <a:ext uri="{FF2B5EF4-FFF2-40B4-BE49-F238E27FC236}">
                <a16:creationId xmlns:a16="http://schemas.microsoft.com/office/drawing/2014/main" id="{5DF3163D-FA27-1400-D162-C704CDECCD83}"/>
              </a:ext>
            </a:extLst>
          </p:cNvPr>
          <p:cNvSpPr/>
          <p:nvPr/>
        </p:nvSpPr>
        <p:spPr>
          <a:xfrm>
            <a:off x="6163056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</a:rPr>
              <a:t>G</a:t>
            </a:r>
            <a:endParaRPr lang="en-US" sz="1200" dirty="0"/>
          </a:p>
        </p:txBody>
      </p:sp>
      <p:sp>
        <p:nvSpPr>
          <p:cNvPr id="68" name="Text 39">
            <a:extLst>
              <a:ext uri="{FF2B5EF4-FFF2-40B4-BE49-F238E27FC236}">
                <a16:creationId xmlns:a16="http://schemas.microsoft.com/office/drawing/2014/main" id="{76C4A84D-7FF7-F028-9A72-C031C32E2601}"/>
              </a:ext>
            </a:extLst>
          </p:cNvPr>
          <p:cNvSpPr/>
          <p:nvPr/>
        </p:nvSpPr>
        <p:spPr>
          <a:xfrm>
            <a:off x="6629400" y="25603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DEVAMANI G</a:t>
            </a:r>
            <a:endParaRPr lang="en-US" sz="1000" dirty="0"/>
          </a:p>
        </p:txBody>
      </p:sp>
      <p:sp>
        <p:nvSpPr>
          <p:cNvPr id="69" name="Text 40">
            <a:extLst>
              <a:ext uri="{FF2B5EF4-FFF2-40B4-BE49-F238E27FC236}">
                <a16:creationId xmlns:a16="http://schemas.microsoft.com/office/drawing/2014/main" id="{59A2CF7C-B09A-EF8A-16FC-C44608188720}"/>
              </a:ext>
            </a:extLst>
          </p:cNvPr>
          <p:cNvSpPr/>
          <p:nvPr/>
        </p:nvSpPr>
        <p:spPr>
          <a:xfrm>
            <a:off x="6629400" y="2779776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421622104025</a:t>
            </a:r>
            <a:endParaRPr lang="en-US" sz="850" dirty="0"/>
          </a:p>
        </p:txBody>
      </p:sp>
      <p:sp>
        <p:nvSpPr>
          <p:cNvPr id="70" name="Shape 41">
            <a:extLst>
              <a:ext uri="{FF2B5EF4-FFF2-40B4-BE49-F238E27FC236}">
                <a16:creationId xmlns:a16="http://schemas.microsoft.com/office/drawing/2014/main" id="{8C81D86B-3C15-302F-E01C-EDC4DF9D35D6}"/>
              </a:ext>
            </a:extLst>
          </p:cNvPr>
          <p:cNvSpPr/>
          <p:nvPr/>
        </p:nvSpPr>
        <p:spPr>
          <a:xfrm>
            <a:off x="6035040" y="3218688"/>
            <a:ext cx="2834640" cy="310896"/>
          </a:xfrm>
          <a:prstGeom prst="rect">
            <a:avLst/>
          </a:prstGeom>
          <a:solidFill>
            <a:srgbClr val="F59E0B">
              <a:alpha val="18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71" name="Text 42">
            <a:extLst>
              <a:ext uri="{FF2B5EF4-FFF2-40B4-BE49-F238E27FC236}">
                <a16:creationId xmlns:a16="http://schemas.microsoft.com/office/drawing/2014/main" id="{9338E5B1-B7F9-0561-2687-077039AEF601}"/>
              </a:ext>
            </a:extLst>
          </p:cNvPr>
          <p:cNvSpPr/>
          <p:nvPr/>
        </p:nvSpPr>
        <p:spPr>
          <a:xfrm>
            <a:off x="6035040" y="3218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59E0B"/>
                </a:solidFill>
              </a:rPr>
              <a:t>PROJECT GUIDE</a:t>
            </a:r>
            <a:endParaRPr lang="en-US" sz="750" dirty="0"/>
          </a:p>
        </p:txBody>
      </p:sp>
      <p:sp>
        <p:nvSpPr>
          <p:cNvPr id="72" name="Shape 43">
            <a:extLst>
              <a:ext uri="{FF2B5EF4-FFF2-40B4-BE49-F238E27FC236}">
                <a16:creationId xmlns:a16="http://schemas.microsoft.com/office/drawing/2014/main" id="{82A21E3D-111D-6F46-750C-27D8FE2C30B6}"/>
              </a:ext>
            </a:extLst>
          </p:cNvPr>
          <p:cNvSpPr/>
          <p:nvPr/>
        </p:nvSpPr>
        <p:spPr>
          <a:xfrm>
            <a:off x="6035040" y="3602736"/>
            <a:ext cx="2834640" cy="1298448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3" name="Shape 44">
            <a:extLst>
              <a:ext uri="{FF2B5EF4-FFF2-40B4-BE49-F238E27FC236}">
                <a16:creationId xmlns:a16="http://schemas.microsoft.com/office/drawing/2014/main" id="{33E14A3A-AF78-6D82-F701-AA0443939462}"/>
              </a:ext>
            </a:extLst>
          </p:cNvPr>
          <p:cNvSpPr/>
          <p:nvPr/>
        </p:nvSpPr>
        <p:spPr>
          <a:xfrm>
            <a:off x="6163056" y="3730752"/>
            <a:ext cx="658368" cy="658368"/>
          </a:xfrm>
          <a:prstGeom prst="ellipse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4" name="Text 45">
            <a:extLst>
              <a:ext uri="{FF2B5EF4-FFF2-40B4-BE49-F238E27FC236}">
                <a16:creationId xmlns:a16="http://schemas.microsoft.com/office/drawing/2014/main" id="{22BA75F3-502D-914D-5B39-D321A158F9A5}"/>
              </a:ext>
            </a:extLst>
          </p:cNvPr>
          <p:cNvSpPr/>
          <p:nvPr/>
        </p:nvSpPr>
        <p:spPr>
          <a:xfrm>
            <a:off x="6163056" y="37307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59E0B"/>
                </a:solidFill>
                <a:latin typeface="Georgia" pitchFamily="34" charset="0"/>
              </a:rPr>
              <a:t>Ms</a:t>
            </a:r>
            <a:endParaRPr lang="en-US" sz="1400" dirty="0"/>
          </a:p>
        </p:txBody>
      </p:sp>
      <p:sp>
        <p:nvSpPr>
          <p:cNvPr id="75" name="Text 46">
            <a:extLst>
              <a:ext uri="{FF2B5EF4-FFF2-40B4-BE49-F238E27FC236}">
                <a16:creationId xmlns:a16="http://schemas.microsoft.com/office/drawing/2014/main" id="{27586490-1B1A-AE2E-10E4-02BE6B41020B}"/>
              </a:ext>
            </a:extLst>
          </p:cNvPr>
          <p:cNvSpPr/>
          <p:nvPr/>
        </p:nvSpPr>
        <p:spPr>
          <a:xfrm>
            <a:off x="6931152" y="374904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</a:rPr>
              <a:t>Ms. K. P. HEMALATHA</a:t>
            </a:r>
            <a:endParaRPr lang="en-US" sz="1150" dirty="0"/>
          </a:p>
        </p:txBody>
      </p:sp>
      <p:sp>
        <p:nvSpPr>
          <p:cNvPr id="76" name="Text 47">
            <a:extLst>
              <a:ext uri="{FF2B5EF4-FFF2-40B4-BE49-F238E27FC236}">
                <a16:creationId xmlns:a16="http://schemas.microsoft.com/office/drawing/2014/main" id="{490C3734-53C5-401F-FD8D-33FE13957CB5}"/>
              </a:ext>
            </a:extLst>
          </p:cNvPr>
          <p:cNvSpPr/>
          <p:nvPr/>
        </p:nvSpPr>
        <p:spPr>
          <a:xfrm>
            <a:off x="6931152" y="4023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</a:t>
            </a:r>
            <a:endParaRPr lang="en-US" sz="900" dirty="0"/>
          </a:p>
        </p:txBody>
      </p:sp>
      <p:sp>
        <p:nvSpPr>
          <p:cNvPr id="77" name="Text 48">
            <a:extLst>
              <a:ext uri="{FF2B5EF4-FFF2-40B4-BE49-F238E27FC236}">
                <a16:creationId xmlns:a16="http://schemas.microsoft.com/office/drawing/2014/main" id="{B29BC934-273A-92C3-4E5C-7D5CE490B0E8}"/>
              </a:ext>
            </a:extLst>
          </p:cNvPr>
          <p:cNvSpPr/>
          <p:nvPr/>
        </p:nvSpPr>
        <p:spPr>
          <a:xfrm>
            <a:off x="6931152" y="424281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</a:t>
            </a:r>
            <a:endParaRPr lang="en-US" sz="900" dirty="0"/>
          </a:p>
        </p:txBody>
      </p:sp>
      <p:sp>
        <p:nvSpPr>
          <p:cNvPr id="78" name="Shape 49">
            <a:extLst>
              <a:ext uri="{FF2B5EF4-FFF2-40B4-BE49-F238E27FC236}">
                <a16:creationId xmlns:a16="http://schemas.microsoft.com/office/drawing/2014/main" id="{A4F94A4A-BF1B-5285-C41B-DB00673EA201}"/>
              </a:ext>
            </a:extLst>
          </p:cNvPr>
          <p:cNvSpPr/>
          <p:nvPr/>
        </p:nvSpPr>
        <p:spPr>
          <a:xfrm>
            <a:off x="6163056" y="4572000"/>
            <a:ext cx="260604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solidFill>
            <a:srgbClr val="EF4444">
              <a:alpha val="2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EF4444"/>
                </a:solidFill>
              </a:rPr>
              <a:t>PROBLEM STATEMENT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Detecting Microbleeds Matters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1417320"/>
          </a:xfrm>
          <a:prstGeom prst="rect">
            <a:avLst/>
          </a:prstGeom>
          <a:solidFill>
            <a:srgbClr val="0F204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45720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554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Silent Threat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89280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Cerebral microbleeds are microscopic brain hemorrhages, often missed in routine MRI reads due to their small size.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4023360" cy="1417320"/>
          </a:xfrm>
          <a:prstGeom prst="rect">
            <a:avLst/>
          </a:prstGeom>
          <a:solidFill>
            <a:srgbClr val="0F204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417320"/>
            <a:ext cx="45720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1554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🔬 Manual Challenge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01768" y="189280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detection is time-consuming, subjective, and requires specialized radiology expertise not always available.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023360" cy="1417320"/>
          </a:xfrm>
          <a:prstGeom prst="rect">
            <a:avLst/>
          </a:prstGeom>
          <a:solidFill>
            <a:srgbClr val="0F204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17520"/>
            <a:ext cx="45720" cy="141732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154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Clinical Impact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349300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stroke risk, cognitive decline, and hypertension — early detection significantly changes patient outcomes.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3017520"/>
            <a:ext cx="4023360" cy="1417320"/>
          </a:xfrm>
          <a:prstGeom prst="rect">
            <a:avLst/>
          </a:prstGeom>
          <a:solidFill>
            <a:srgbClr val="0F204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3017520"/>
            <a:ext cx="45720" cy="1417320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01768" y="3154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🤖 AI Opportunity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01768" y="349300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can automate detection, providing consistent, fast, and scalable second opinions for clinicians.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solidFill>
            <a:srgbClr val="00D4FF">
              <a:alpha val="20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00D4FF"/>
                </a:solidFill>
              </a:rPr>
              <a:t>PROJECT OVERVIEW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NeuroScan AI Does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3383280"/>
          </a:xfrm>
          <a:prstGeom prst="rect">
            <a:avLst/>
          </a:prstGeom>
          <a:solidFill>
            <a:srgbClr val="0F204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45720" cy="3383280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813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Overview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8952" y="1947672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91109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T2* / SWI brain MRI images as input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58952" y="2404872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36829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CNN classifies microbleed severity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8952" y="2862072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82549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 for admin upload &amp; patient management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58952" y="3319272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28269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stored in MySQL with full scan history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8952" y="3776472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73989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 with 4-class probability output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8952" y="4233672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19709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end-to-end on Google Colab (GPU)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1371600"/>
            <a:ext cx="1920240" cy="1005840"/>
          </a:xfrm>
          <a:prstGeom prst="rect">
            <a:avLst/>
          </a:prstGeom>
          <a:solidFill>
            <a:srgbClr val="0A1F3A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663440" y="17556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ResNet-18 (PyTorch)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6560" y="1371600"/>
            <a:ext cx="1920240" cy="1005840"/>
          </a:xfrm>
          <a:prstGeom prst="rect">
            <a:avLst/>
          </a:prstGeom>
          <a:solidFill>
            <a:srgbClr val="0A1F3A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6656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766560" y="17556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Colab (GPU)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2560320"/>
            <a:ext cx="1920240" cy="1005840"/>
          </a:xfrm>
          <a:prstGeom prst="rect">
            <a:avLst/>
          </a:prstGeom>
          <a:solidFill>
            <a:srgbClr val="0A1F3A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63440" y="2651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663440" y="29443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Flask (Python)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66560" y="2560320"/>
            <a:ext cx="1920240" cy="1005840"/>
          </a:xfrm>
          <a:prstGeom prst="rect">
            <a:avLst/>
          </a:prstGeom>
          <a:solidFill>
            <a:srgbClr val="0A1F3A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66560" y="2651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766560" y="29443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3749040"/>
            <a:ext cx="1920240" cy="1005840"/>
          </a:xfrm>
          <a:prstGeom prst="rect">
            <a:avLst/>
          </a:prstGeom>
          <a:solidFill>
            <a:srgbClr val="0A1F3A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63440" y="3840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663440" y="413308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HTML/CSS/JS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766560" y="3749040"/>
            <a:ext cx="1920240" cy="1005840"/>
          </a:xfrm>
          <a:prstGeom prst="rect">
            <a:avLst/>
          </a:prstGeom>
          <a:solidFill>
            <a:srgbClr val="0A1F3A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66560" y="3840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766560" y="413308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Filesystem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solidFill>
            <a:srgbClr val="14B8A6">
              <a:alpha val="20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14B8A6"/>
                </a:solidFill>
              </a:rPr>
              <a:t>MODEL ARCHITECTURE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ResNet-18 Classification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234440" cy="192024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1234440" cy="347472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9961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🖼️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Image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224×224×3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554480" y="2377440"/>
            <a:ext cx="201168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55648" y="1463040"/>
            <a:ext cx="1234440" cy="192024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755648" y="1463040"/>
            <a:ext cx="1234440" cy="347472"/>
          </a:xfrm>
          <a:prstGeom prst="rect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55648" y="149961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⚙️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55648" y="187452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BN + ReLU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55648" y="26060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filters 7×7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990088" y="2377440"/>
            <a:ext cx="201168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91256" y="1463040"/>
            <a:ext cx="1234440" cy="192024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91256" y="1463040"/>
            <a:ext cx="1234440" cy="347472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91256" y="149961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🧱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91256" y="187452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1–4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91256" y="26060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64→512 channels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425696" y="2377440"/>
            <a:ext cx="201168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6864" y="1463040"/>
            <a:ext cx="1234440" cy="192024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1463040"/>
            <a:ext cx="1234440" cy="34747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149961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26864" y="187452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26864" y="26060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512-dim vector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861304" y="2377440"/>
            <a:ext cx="20116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62472" y="1463040"/>
            <a:ext cx="1234440" cy="192024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62472" y="1463040"/>
            <a:ext cx="1234440" cy="347472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62472" y="149961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62472" y="187452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Layer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62472" y="26060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→ 4 classes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296912" y="2377440"/>
            <a:ext cx="201168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0" y="1463040"/>
            <a:ext cx="1234440" cy="192024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98080" y="1463040"/>
            <a:ext cx="1234440" cy="347472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0" y="149961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498080" y="187452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+ Prob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498080" y="26060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severity levels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" y="3749040"/>
            <a:ext cx="1508760" cy="105156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7200" y="38404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~11M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57200" y="42976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148840" y="3749040"/>
            <a:ext cx="1508760" cy="105156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148840" y="38404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2148840" y="42976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Classes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840480" y="3749040"/>
            <a:ext cx="1508760" cy="105156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840480" y="38404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ImageNet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840480" y="42976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532120" y="3749040"/>
            <a:ext cx="1508760" cy="105156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532120" y="38404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Cross-Entropy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532120" y="42976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223760" y="3749040"/>
            <a:ext cx="1508760" cy="105156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223760" y="38404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Adam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223760" y="42976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59E0B"/>
                </a:solidFill>
              </a:rPr>
              <a:t>MODEL TRAINING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Trained on Google Colab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02920" cy="713232"/>
          </a:xfrm>
          <a:prstGeom prst="rect">
            <a:avLst/>
          </a:prstGeom>
          <a:solidFill>
            <a:srgbClr val="F59E0B">
              <a:alpha val="30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39903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Preparation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97280" y="16916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MRI scans labelled across 4 severity classes. Augmentation: flip, rotation, colour jitter.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502920" cy="713232"/>
          </a:xfrm>
          <a:prstGeom prst="rect">
            <a:avLst/>
          </a:prstGeom>
          <a:solidFill>
            <a:srgbClr val="F59E0B">
              <a:alpha val="30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3172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31343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Setup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97280" y="26060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loaded with ImageNet pre-trained weights. Final FC layer replaced: 512 → 4 neurons.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502920" cy="713232"/>
          </a:xfrm>
          <a:prstGeom prst="rect">
            <a:avLst/>
          </a:prstGeom>
          <a:solidFill>
            <a:srgbClr val="F59E0B">
              <a:alpha val="30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4612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22783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Loop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97280" y="35204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optimizer, Cross-Entropy loss. Trained on Colab GPU (T4/A100). Early stopping applied.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502920" cy="713232"/>
          </a:xfrm>
          <a:prstGeom prst="rect">
            <a:avLst/>
          </a:prstGeom>
          <a:solidFill>
            <a:srgbClr val="F59E0B">
              <a:alpha val="30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6052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14223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97280" y="44348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weights saved as model.pt. Inference wrapped in predict() function in app.py.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1325880"/>
            <a:ext cx="4114800" cy="347472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325880"/>
            <a:ext cx="4114800" cy="45720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325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☁️  Google Colab Specs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63640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Colaboratory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2249424"/>
            <a:ext cx="374904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331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6364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T4 / A100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2660904"/>
            <a:ext cx="374904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743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63640" y="2743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torchvision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3072384"/>
            <a:ext cx="374904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154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6364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3483864"/>
            <a:ext cx="374904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566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6364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weights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3895344"/>
            <a:ext cx="374904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977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63640" y="3977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model.pt (state dict)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00600" y="4306824"/>
            <a:ext cx="374904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4389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63640" y="4389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None  1 – Mild  2 – Moderate  3 – Severe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10B981"/>
                </a:solidFill>
              </a:rPr>
              <a:t>CLASSIFICATION OUTPUT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4-Class Severity Detection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920240" cy="333756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1920240" cy="502920"/>
          </a:xfrm>
          <a:prstGeom prst="rect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0299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Microbleed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1371600" cy="128016"/>
          </a:xfrm>
          <a:prstGeom prst="rect">
            <a:avLst/>
          </a:prstGeom>
          <a:solidFill>
            <a:srgbClr val="0F2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834640"/>
            <a:ext cx="1207008" cy="128016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992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example conf.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 healthy scan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363931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monitoring — follow-up in 12 months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87168" y="1417320"/>
            <a:ext cx="1920240" cy="333756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87168" y="1417320"/>
            <a:ext cx="1920240" cy="50292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87168" y="1417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487168" y="20299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487168" y="2286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61488" y="2834640"/>
            <a:ext cx="1371600" cy="128016"/>
          </a:xfrm>
          <a:prstGeom prst="rect">
            <a:avLst/>
          </a:prstGeom>
          <a:solidFill>
            <a:srgbClr val="0F2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61488" y="2834640"/>
            <a:ext cx="617220" cy="128016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87168" y="29992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example conf.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78608" y="3291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microbleed burden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78608" y="363931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imaging in 3–6 months recommended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08576" y="1417320"/>
            <a:ext cx="1920240" cy="333756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08576" y="1417320"/>
            <a:ext cx="1920240" cy="502920"/>
          </a:xfrm>
          <a:prstGeom prst="rect">
            <a:avLst/>
          </a:prstGeom>
          <a:solidFill>
            <a:srgbClr val="F9731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08576" y="1417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🔶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608576" y="20299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08576" y="2286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Moderate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82896" y="2834640"/>
            <a:ext cx="1371600" cy="128016"/>
          </a:xfrm>
          <a:prstGeom prst="rect">
            <a:avLst/>
          </a:prstGeom>
          <a:solidFill>
            <a:srgbClr val="0F2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82896" y="2834640"/>
            <a:ext cx="891540" cy="128016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08576" y="29992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example conf.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00016" y="3291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microbleed load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00016" y="363931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evaluation + neurological assessment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729984" y="1417320"/>
            <a:ext cx="1920240" cy="333756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729984" y="1417320"/>
            <a:ext cx="1920240" cy="502920"/>
          </a:xfrm>
          <a:prstGeom prst="rect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9984" y="1417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729984" y="20299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729984" y="2286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Severe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004304" y="2834640"/>
            <a:ext cx="1371600" cy="128016"/>
          </a:xfrm>
          <a:prstGeom prst="rect">
            <a:avLst/>
          </a:prstGeom>
          <a:solidFill>
            <a:srgbClr val="0F2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04304" y="2834640"/>
            <a:ext cx="1124712" cy="128016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9984" y="29992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example conf.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821424" y="3291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microbleed burden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821424" y="363931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specialist review strongly advised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3B82F6"/>
                </a:solidFill>
              </a:rPr>
              <a:t>WEB APPLICATION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Full-Stack Flask Portal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3383280"/>
          </a:xfrm>
          <a:prstGeom prst="rect">
            <a:avLst/>
          </a:prstGeom>
          <a:solidFill>
            <a:srgbClr val="060F1C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453896"/>
            <a:ext cx="128016" cy="128016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53896"/>
            <a:ext cx="128016" cy="128016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1453896"/>
            <a:ext cx="128016" cy="128016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8074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localhost:5000 / NeuroScan AI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20" y="1792224"/>
            <a:ext cx="777240" cy="2926080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92024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30352" y="242316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Scan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30352" y="292608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371600" y="1828800"/>
            <a:ext cx="1280160" cy="658368"/>
          </a:xfrm>
          <a:prstGeom prst="rect">
            <a:avLst/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88920" y="1828800"/>
            <a:ext cx="1280160" cy="658368"/>
          </a:xfrm>
          <a:prstGeom prst="rect">
            <a:avLst/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2606040"/>
            <a:ext cx="1280160" cy="658368"/>
          </a:xfrm>
          <a:prstGeom prst="rect">
            <a:avLst/>
          </a:prstGeom>
          <a:solidFill>
            <a:srgbClr val="EF4444">
              <a:alpha val="2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88920" y="2606040"/>
            <a:ext cx="1280160" cy="658368"/>
          </a:xfrm>
          <a:prstGeom prst="rect">
            <a:avLst/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371600"/>
            <a:ext cx="1965960" cy="105156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73168" y="14813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/login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73168" y="181051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authentication with hashed passwords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12280" y="1371600"/>
            <a:ext cx="1965960" cy="105156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22008" y="14813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/dashboard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22008" y="181051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overview, doughnut chart, recent scans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2560320"/>
            <a:ext cx="1965960" cy="105156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73168" y="26700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/upload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73168" y="299923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MRI upload + patient form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12280" y="2560320"/>
            <a:ext cx="1965960" cy="105156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22008" y="26700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/result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22008" y="299923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Verdict, probability bars, patient record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3749040"/>
            <a:ext cx="1965960" cy="105156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73168" y="385876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/history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73168" y="418795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table, search, delete records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812280" y="3749040"/>
            <a:ext cx="1965960" cy="105156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922008" y="385876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/api/stats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22008" y="418795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endpoint for live chart data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solidFill>
            <a:srgbClr val="00D4FF">
              <a:alpha val="20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00D4FF"/>
                </a:solidFill>
              </a:rPr>
              <a:t>SYSTEM ARCHITECTURE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Data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1737360" cy="128016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828800"/>
            <a:ext cx="1737360" cy="329184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21284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7432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/ Firefox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331720" y="1828800"/>
            <a:ext cx="1737360" cy="128016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31720" y="1828800"/>
            <a:ext cx="1737360" cy="329184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221284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27432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3.9+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89120" y="1828800"/>
            <a:ext cx="1737360" cy="128016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1828800"/>
            <a:ext cx="1737360" cy="329184"/>
          </a:xfrm>
          <a:prstGeom prst="rect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221284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ResNet-18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27432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model.pt (PyTorch)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46520" y="1828800"/>
            <a:ext cx="1737360" cy="128016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1828800"/>
            <a:ext cx="1737360" cy="329184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21284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27432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microbleed_db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389120" y="3474720"/>
            <a:ext cx="1737360" cy="128016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0" y="3474720"/>
            <a:ext cx="1737360" cy="329184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385876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0" y="43891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static/uploads/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011680" y="2468880"/>
            <a:ext cx="32004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ysDot"/>
          </a:ln>
        </p:spPr>
      </p:sp>
      <p:sp>
        <p:nvSpPr>
          <p:cNvPr id="26" name="Text 24"/>
          <p:cNvSpPr/>
          <p:nvPr/>
        </p:nvSpPr>
        <p:spPr>
          <a:xfrm>
            <a:off x="1965960" y="224028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069080" y="2468880"/>
            <a:ext cx="3200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ysDot"/>
          </a:ln>
        </p:spPr>
      </p:sp>
      <p:sp>
        <p:nvSpPr>
          <p:cNvPr id="28" name="Text 26"/>
          <p:cNvSpPr/>
          <p:nvPr/>
        </p:nvSpPr>
        <p:spPr>
          <a:xfrm>
            <a:off x="4023360" y="224028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Tensor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126480" y="2468880"/>
            <a:ext cx="3200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ysDot"/>
          </a:ln>
        </p:spPr>
      </p:sp>
      <p:sp>
        <p:nvSpPr>
          <p:cNvPr id="30" name="Text 28"/>
          <p:cNvSpPr/>
          <p:nvPr/>
        </p:nvSpPr>
        <p:spPr>
          <a:xfrm>
            <a:off x="6080760" y="224028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257800" y="3108960"/>
            <a:ext cx="0" cy="365760"/>
          </a:xfrm>
          <a:prstGeom prst="line">
            <a:avLst/>
          </a:prstGeom>
          <a:noFill/>
          <a:ln w="19050">
            <a:solidFill>
              <a:srgbClr val="10B981"/>
            </a:solidFill>
            <a:prstDash val="sysDot"/>
          </a:ln>
        </p:spPr>
      </p:sp>
      <p:sp>
        <p:nvSpPr>
          <p:cNvPr id="32" name="Text 30"/>
          <p:cNvSpPr/>
          <p:nvPr/>
        </p:nvSpPr>
        <p:spPr>
          <a:xfrm>
            <a:off x="5212080" y="288036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File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4360" y="438912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→ Flask (upload + form) → PyTorch model inference → MySQL saves result + image path → browser receives result page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solidFill>
            <a:srgbClr val="14B8A6">
              <a:alpha val="20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14B8A6"/>
                </a:solidFill>
              </a:rPr>
              <a:t>TECHNOLOGY STACK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Technologies Used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97480" cy="164592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697480" cy="347472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57784" y="1883664"/>
            <a:ext cx="73152" cy="7315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8288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2.x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57784" y="2130552"/>
            <a:ext cx="73152" cy="7315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07568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torchvision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57784" y="2377440"/>
            <a:ext cx="73152" cy="7315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32257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CNN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7784" y="2624328"/>
            <a:ext cx="73152" cy="7315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569464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Loss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" y="2871216"/>
            <a:ext cx="73152" cy="7315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816352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Optimizer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46120" y="1371600"/>
            <a:ext cx="2697480" cy="164592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371600"/>
            <a:ext cx="2697480" cy="347472"/>
          </a:xfrm>
          <a:prstGeom prst="rect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13716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38144" y="1883664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93592" y="18288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38144" y="2130552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93592" y="207568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GPU (T4/A100)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38144" y="2377440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93592" y="232257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38144" y="2624328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93592" y="2569464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38144" y="2871216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93592" y="2816352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model.pt export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26480" y="1371600"/>
            <a:ext cx="2697480" cy="164592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1371600"/>
            <a:ext cx="2697480" cy="347472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13716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18504" y="1883664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3952" y="18288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3.9+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18504" y="2130552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207568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3.x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18504" y="2377440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73952" y="232257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Flask-MySQLdb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18504" y="2624328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73952" y="2569464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18504" y="2871216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2816352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(PIL)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3200400"/>
            <a:ext cx="2697480" cy="164592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3200400"/>
            <a:ext cx="2697480" cy="34747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2004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57784" y="371246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" y="36576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8.x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7784" y="395935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3232" y="390448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table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7784" y="420624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3232" y="415137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table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57784" y="445312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3232" y="4398264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57784" y="470001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" y="4645152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246120" y="3200400"/>
            <a:ext cx="2697480" cy="164592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246120" y="3200400"/>
            <a:ext cx="2697480" cy="347472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46120" y="32004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438144" y="3712464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593592" y="36576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438144" y="3959352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593592" y="390448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Sans + Syne fonts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438144" y="4206240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593592" y="415137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(doughnut)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438144" y="4453128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593592" y="4398264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Awesome icons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438144" y="4700016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593592" y="4645152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upload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126480" y="3200400"/>
            <a:ext cx="2697480" cy="164592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126480" y="3200400"/>
            <a:ext cx="2697480" cy="347472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26480" y="32004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318504" y="3712464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73952" y="36576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deployment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318504" y="3959352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73952" y="390448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UPLOAD_FOLDER storage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318504" y="420624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73952" y="415137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mode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318504" y="4453128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73952" y="4398264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5000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318504" y="470001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73952" y="4645152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10B981"/>
                </a:solidFill>
              </a:rPr>
              <a:t>RESULTS &amp; CAPABILITIES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Capabilities &amp; Output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508760" cy="118872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4475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2048256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Classes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57400" y="1371600"/>
            <a:ext cx="1508760" cy="118872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57400" y="144475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~11M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057400" y="2048256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Parameters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749040" y="1371600"/>
            <a:ext cx="1508760" cy="118872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144475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&lt;2s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749040" y="2048256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Time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40680" y="1371600"/>
            <a:ext cx="1508760" cy="118872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40680" y="144475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91%+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40680" y="2048256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Confidence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132320" y="1371600"/>
            <a:ext cx="1508760" cy="118872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32320" y="144475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132320" y="2048256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2788920"/>
            <a:ext cx="4023360" cy="960120"/>
          </a:xfrm>
          <a:prstGeom prst="rect">
            <a:avLst/>
          </a:prstGeom>
          <a:solidFill>
            <a:srgbClr val="0F204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788920"/>
            <a:ext cx="45720" cy="960120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8803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Inference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 MRI and receive a severity classification + confidence scores within seconds.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788920"/>
            <a:ext cx="4023360" cy="960120"/>
          </a:xfrm>
          <a:prstGeom prst="rect">
            <a:avLst/>
          </a:prstGeom>
          <a:solidFill>
            <a:srgbClr val="0F204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788920"/>
            <a:ext cx="45720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8803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Record System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9204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 is linked to a patient name, ID, date, and clinical notes — fully searchable.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886200"/>
            <a:ext cx="4023360" cy="960120"/>
          </a:xfrm>
          <a:prstGeom prst="rect">
            <a:avLst/>
          </a:prstGeom>
          <a:solidFill>
            <a:srgbClr val="0F204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886200"/>
            <a:ext cx="45720" cy="96012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9776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Probability UI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4297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probability bars for all 4 classes, colour-coded by severity, with verdict card.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3886200"/>
            <a:ext cx="4023360" cy="960120"/>
          </a:xfrm>
          <a:prstGeom prst="rect">
            <a:avLst/>
          </a:prstGeom>
          <a:solidFill>
            <a:srgbClr val="0F204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886200"/>
            <a:ext cx="4572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9776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Security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92040" y="4297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Bcrypt-hashed passwords, session management, login-required decorators on all protected routes.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2743200" cy="2743200"/>
          </a:xfrm>
          <a:prstGeom prst="ellipse">
            <a:avLst/>
          </a:prstGeom>
          <a:solidFill>
            <a:srgbClr val="0018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749040"/>
            <a:ext cx="2011680" cy="2011680"/>
          </a:xfrm>
          <a:prstGeom prst="ellipse">
            <a:avLst/>
          </a:prstGeom>
          <a:solidFill>
            <a:srgbClr val="002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48640"/>
            <a:ext cx="1645920" cy="256032"/>
          </a:xfrm>
          <a:prstGeom prst="rect">
            <a:avLst/>
          </a:prstGeom>
          <a:solidFill>
            <a:srgbClr val="00D4FF">
              <a:alpha val="20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48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00D4FF"/>
                </a:solidFill>
              </a:rPr>
              <a:t>CONCLUSION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NeuroScan AI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AI precision to neurological diagnostics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2459736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2316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trained on Colab delivers fast, reliable microbleed severity classification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" y="2962656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92608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Flask + MySQL portal enables secure, scalable clinical workflow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" y="3465576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42900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4-class output with confidence scores supports radiologist decision-making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" y="3968496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93192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allows easy model swap, class expansion, and cloud deployment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1188720"/>
            <a:ext cx="2011680" cy="3200400"/>
          </a:xfrm>
          <a:prstGeom prst="rect">
            <a:avLst/>
          </a:prstGeom>
          <a:solidFill>
            <a:srgbClr val="091830"/>
          </a:solidFill>
          <a:ln w="9525">
            <a:solidFill>
              <a:srgbClr val="1E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188720"/>
            <a:ext cx="2011680" cy="411480"/>
          </a:xfrm>
          <a:prstGeom prst="rect">
            <a:avLst/>
          </a:prstGeom>
          <a:solidFill>
            <a:srgbClr val="00D4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7830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🧠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766560" y="2743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kern="0" spc="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0" y="30632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PyTorch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66560" y="33558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Google Colab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66560" y="36484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Flask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66560" y="39410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MySQL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clinical support only — results must be verified by a qualified radiologist.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960</Words>
  <Application>Microsoft Office PowerPoint</Application>
  <PresentationFormat>On-screen Show (16:9)</PresentationFormat>
  <Paragraphs>271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NeuroScan AI — Cerebral Microbleed Detection</dc:title>
  <dc:subject>PptxGenJS Presentation</dc:subject>
  <dc:creator>NeuroScan AI Team</dc:creator>
  <cp:lastModifiedBy>ABIRAMAN MANIKANNAN</cp:lastModifiedBy>
  <cp:revision>2</cp:revision>
  <dcterms:created xsi:type="dcterms:W3CDTF">2026-05-10T06:39:23Z</dcterms:created>
  <dcterms:modified xsi:type="dcterms:W3CDTF">2026-05-13T02:14:02Z</dcterms:modified>
</cp:coreProperties>
</file>